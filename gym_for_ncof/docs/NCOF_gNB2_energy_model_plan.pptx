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C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4173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FA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3GPP TR 38.864 · NETWORK ENERGY SAVING FOR NR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182880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NCOF gNB#2 에너지 모델 적용 계획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822960" y="278892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FE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 전력 소비 모델(Deep sleep / Active)을 RL 보상·관측에 통합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22960" y="3840480"/>
            <a:ext cx="3108960" cy="1143000"/>
          </a:xfrm>
          <a:prstGeom prst="roundRect">
            <a:avLst>
              <a:gd name="adj" fmla="val 9600"/>
            </a:avLst>
          </a:prstGeom>
          <a:solidFill>
            <a:srgbClr val="12515E"/>
          </a:solidFill>
          <a:ln w="25400">
            <a:solidFill>
              <a:srgbClr val="1FA9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3986784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A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SLEEP (절전)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1051560" y="42976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 = 1   ·   T = 50 ms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206240" y="3840480"/>
            <a:ext cx="3108960" cy="1143000"/>
          </a:xfrm>
          <a:prstGeom prst="roundRect">
            <a:avLst>
              <a:gd name="adj" fmla="val 9600"/>
            </a:avLst>
          </a:prstGeom>
          <a:solidFill>
            <a:srgbClr val="12515E"/>
          </a:solidFill>
          <a:ln w="25400">
            <a:solidFill>
              <a:srgbClr val="E085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34840" y="3986784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08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(가동)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434840" y="42976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 = 280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7589520" y="3840480"/>
            <a:ext cx="3108960" cy="1143000"/>
          </a:xfrm>
          <a:prstGeom prst="roundRect">
            <a:avLst>
              <a:gd name="adj" fmla="val 9600"/>
            </a:avLst>
          </a:prstGeom>
          <a:solidFill>
            <a:srgbClr val="12515E"/>
          </a:solidFill>
          <a:ln w="25400">
            <a:solidFill>
              <a:srgbClr val="9BD7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818120" y="3986784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BD7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전이에너지 E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818120" y="42976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1000  (rel·ms)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822960" y="60350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FCE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ETRI 지능네트워크연구실 · 박세형      |      6G-I2P PoC · 2026-06-26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17A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&amp; WHAT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36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배경 및 목표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486400" cy="4663440"/>
          </a:xfrm>
          <a:prstGeom prst="roundRect">
            <a:avLst>
              <a:gd name="adj" fmla="val 1765"/>
            </a:avLst>
          </a:prstGeom>
          <a:solidFill>
            <a:srgbClr val="EFF6F6"/>
          </a:solidFill>
          <a:ln w="12700">
            <a:solidFill>
              <a:srgbClr val="CBE0E0"/>
            </a:solidFill>
            <a:prstDash val="solid"/>
          </a:ln>
          <a:effectLst>
            <a:outerShdw sx="100000" sy="100000" kx="0" ky="0" algn="bl" rotWithShape="0" blurRad="88900" dist="38100" dir="5400000">
              <a:srgbClr val="0B3C49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7373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7A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배경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68680" y="2194560"/>
            <a:ext cx="48920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6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현재 NCOF는 WLAN 부하만 보고 gNB#2의 sleep/active를 결정 — 에너지는 결정에 반영되지 않음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6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3GPP TR 38.864에 BS 상대전력·전이에너지·전이시간 모델이 정의되어 있음 (Table 5.1-2~5)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6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 RICF의 13p_d 전력 피드백은 수신만 하고 의사결정에 쓰지 않음 (현재 임의값)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6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이를 RL 보상·관측에 반영해 “에너지 인식(energy-aware)” 결정으로 고도화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309360" y="1554480"/>
            <a:ext cx="5349240" cy="4663440"/>
          </a:xfrm>
          <a:prstGeom prst="roundRect">
            <a:avLst>
              <a:gd name="adj" fmla="val 1765"/>
            </a:avLst>
          </a:prstGeom>
          <a:solidFill>
            <a:srgbClr val="FFFFFF"/>
          </a:solidFill>
          <a:ln w="12700">
            <a:solidFill>
              <a:srgbClr val="CBE0E0"/>
            </a:solidFill>
            <a:prstDash val="solid"/>
          </a:ln>
          <a:effectLst>
            <a:outerShdw sx="100000" sy="100000" kx="0" ky="0" algn="bl" rotWithShape="0" blurRad="88900" dist="38100" dir="5400000">
              <a:srgbClr val="0B3C49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83680" y="17373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085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목표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0" y="2258568"/>
            <a:ext cx="457200" cy="457200"/>
          </a:xfrm>
          <a:prstGeom prst="ellipse">
            <a:avLst/>
          </a:prstGeom>
          <a:solidFill>
            <a:srgbClr val="117A8B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0" y="22585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223760" y="2194560"/>
            <a:ext cx="42976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6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2-state 적용</a:t>
            </a:r>
            <a:endParaRPr lang="en-US" sz="1450" dirty="0"/>
          </a:p>
          <a:p>
            <a:pPr indent="0" marL="0">
              <a:buNone/>
            </a:pPr>
            <a:r>
              <a:rPr lang="en-US" sz="1200" dirty="0">
                <a:solidFill>
                  <a:srgbClr val="5E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gNB#2에 Deep sleep / Active 두 상태만 적용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583680" y="3538728"/>
            <a:ext cx="457200" cy="457200"/>
          </a:xfrm>
          <a:prstGeom prst="ellipse">
            <a:avLst/>
          </a:prstGeom>
          <a:solidFill>
            <a:srgbClr val="117A8B"/>
          </a:solidFill>
          <a:ln/>
        </p:spPr>
      </p:sp>
      <p:sp>
        <p:nvSpPr>
          <p:cNvPr id="13" name="Text 11"/>
          <p:cNvSpPr/>
          <p:nvPr/>
        </p:nvSpPr>
        <p:spPr>
          <a:xfrm>
            <a:off x="6583680" y="3538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7223760" y="3474720"/>
            <a:ext cx="42976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6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— 상대전력</a:t>
            </a:r>
            <a:endParaRPr lang="en-US" sz="1450" dirty="0"/>
          </a:p>
          <a:p>
            <a:pPr indent="0" marL="0">
              <a:buNone/>
            </a:pPr>
            <a:r>
              <a:rPr lang="en-US" sz="1200" dirty="0">
                <a:solidFill>
                  <a:srgbClr val="5E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각 상태의 38.864 상대전력(1 / 280)을 RL 보상에 반영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6583680" y="4818888"/>
            <a:ext cx="457200" cy="457200"/>
          </a:xfrm>
          <a:prstGeom prst="ellipse">
            <a:avLst/>
          </a:prstGeom>
          <a:solidFill>
            <a:srgbClr val="117A8B"/>
          </a:solidFill>
          <a:ln/>
        </p:spPr>
      </p:sp>
      <p:sp>
        <p:nvSpPr>
          <p:cNvPr id="16" name="Text 14"/>
          <p:cNvSpPr/>
          <p:nvPr/>
        </p:nvSpPr>
        <p:spPr>
          <a:xfrm>
            <a:off x="6583680" y="48188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7223760" y="4754880"/>
            <a:ext cx="42976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6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 — 전이</a:t>
            </a:r>
            <a:endParaRPr lang="en-US" sz="1450" dirty="0"/>
          </a:p>
          <a:p>
            <a:pPr indent="0" marL="0">
              <a:buNone/>
            </a:pPr>
            <a:r>
              <a:rPr lang="en-US" sz="1200" dirty="0">
                <a:solidFill>
                  <a:srgbClr val="5E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전이시간(Deep sleep 50 ms) + 전이에너지 E 까지 모델링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17A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VALUES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36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적용할 38.864 값  ·  BS Category 1, Set 1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4023360" cy="2743200"/>
          </a:xfrm>
          <a:prstGeom prst="roundRect">
            <a:avLst>
              <a:gd name="adj" fmla="val 3000"/>
            </a:avLst>
          </a:prstGeom>
          <a:solidFill>
            <a:srgbClr val="EAF7F2"/>
          </a:solidFill>
          <a:ln w="12700">
            <a:solidFill>
              <a:srgbClr val="CBE0E0"/>
            </a:solidFill>
            <a:prstDash val="solid"/>
          </a:ln>
          <a:effectLst>
            <a:outerShdw sx="100000" sy="100000" kx="0" ky="0" algn="bl" rotWithShape="0" blurRad="88900" dist="38100" dir="5400000">
              <a:srgbClr val="0B3C49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8745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A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SLEEP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24028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1636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 = 1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822960" y="3200400"/>
            <a:ext cx="34747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6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전이시간 T = 50 ms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6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전이에너지 E = 1000  (rel·ms)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754880" y="1691640"/>
            <a:ext cx="4023360" cy="2743200"/>
          </a:xfrm>
          <a:prstGeom prst="roundRect">
            <a:avLst>
              <a:gd name="adj" fmla="val 3000"/>
            </a:avLst>
          </a:prstGeom>
          <a:solidFill>
            <a:srgbClr val="FBEFE2"/>
          </a:solidFill>
          <a:ln w="12700">
            <a:solidFill>
              <a:srgbClr val="CBE0E0"/>
            </a:solidFill>
            <a:prstDash val="solid"/>
          </a:ln>
          <a:effectLst>
            <a:outerShdw sx="100000" sy="100000" kx="0" ky="0" algn="bl" rotWithShape="0" blurRad="88900" dist="38100" dir="5400000">
              <a:srgbClr val="0B3C49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0" y="18745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8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(DL)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0" y="224028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1636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 = 280</a:t>
            </a:r>
            <a:endParaRPr lang="en-US" sz="4600" dirty="0"/>
          </a:p>
        </p:txBody>
      </p:sp>
      <p:sp>
        <p:nvSpPr>
          <p:cNvPr id="11" name="Text 9"/>
          <p:cNvSpPr/>
          <p:nvPr/>
        </p:nvSpPr>
        <p:spPr>
          <a:xfrm>
            <a:off x="5029200" y="320040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6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가동 중 상대전력 (deep sleep 대비)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961120" y="1691640"/>
            <a:ext cx="2697480" cy="2743200"/>
          </a:xfrm>
          <a:prstGeom prst="roundRect">
            <a:avLst>
              <a:gd name="adj" fmla="val 3051"/>
            </a:avLst>
          </a:prstGeom>
          <a:solidFill>
            <a:srgbClr val="0B3C49"/>
          </a:solidFill>
          <a:ln w="12700">
            <a:solidFill>
              <a:srgbClr val="CBE0E0"/>
            </a:solidFill>
            <a:prstDash val="solid"/>
          </a:ln>
          <a:effectLst>
            <a:outerShdw sx="100000" sy="100000" kx="0" ky="0" algn="bl" rotWithShape="0" blurRad="88900" dist="38100" dir="5400000">
              <a:srgbClr val="0B3C49">
                <a:alpha val="1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961120" y="2286000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FA9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280×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8961120" y="3200400"/>
            <a:ext cx="2697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FE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vs Deep sleep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CFE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전력 차이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4709160"/>
            <a:ext cx="109728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E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단위: 상대전력(relative power), Deep sleep = 1 기준 / E 단위 = 상대전력 × duration(ms)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5E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값 출처: TR 38.864 V18.1.0 Table 5.1-3(P) · 5.1-4(T) · 5.1-5(E).  대안 — BS Cat 2 사용 시 Active = 32 / Deep sleep = 1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17A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ACCOUNTING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36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에너지 계산 예시 — 1분 윈도 (rel·s)</a:t>
            </a:r>
            <a:endParaRPr lang="en-US" sz="3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783080"/>
          <a:ext cx="768096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1828800"/>
                <a:gridCol w="914400"/>
                <a:gridCol w="192024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상황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holding (P × 60)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합계 (rel·s)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636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계속 active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636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16,800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636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E08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16,800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636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계속 deep sleep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636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636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A9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636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이번에 재움 (active→deep)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636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17A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A9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636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이번에 깨움 (deep→active)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636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16,800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636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E08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16,800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778240" y="1783080"/>
            <a:ext cx="2880360" cy="2651760"/>
          </a:xfrm>
          <a:prstGeom prst="roundRect">
            <a:avLst>
              <a:gd name="adj" fmla="val 3103"/>
            </a:avLst>
          </a:prstGeom>
          <a:solidFill>
            <a:srgbClr val="0B3C49"/>
          </a:solidFill>
          <a:ln w="12700">
            <a:solidFill>
              <a:srgbClr val="CBE0E0"/>
            </a:solidFill>
            <a:prstDash val="solid"/>
          </a:ln>
          <a:effectLst>
            <a:outerShdw sx="100000" sy="100000" kx="0" ky="0" algn="bl" rotWithShape="0" blurRad="88900" dist="38100" dir="5400000">
              <a:srgbClr val="0B3C49">
                <a:alpha val="16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778240" y="224028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FA9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280×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8778240" y="301752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FE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1분  vs  deep sleep 1분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CFE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(16,800  vs  60)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31520" y="4663440"/>
            <a:ext cx="108813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E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holding = 상대전력 P × 시간(초). 1분 = 60초 → P × 60   (active P=280, deep sleep P=1)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E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E(전이에너지) = 1000 rel·ms = 1 rel·s. active→deep_sleep 진입 시 1회만 가산(ramp down+up 포함). 유지/깨움 시 추가 없음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5E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전이비용(1)은 holding 차이(16,740)에 비해 미미 → 잦은 토글 방지는 min-dwell guard로 별도 처리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17A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AS-IS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36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현재 동작 — 에너지 미반영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468880"/>
            <a:ext cx="265176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25400">
            <a:solidFill>
              <a:srgbClr val="117A8B"/>
            </a:solidFill>
            <a:prstDash val="solid"/>
          </a:ln>
          <a:effectLst>
            <a:outerShdw sx="100000" sy="100000" kx="0" ky="0" algn="bl" rotWithShape="0" blurRad="88900" dist="38100" dir="5400000">
              <a:srgbClr val="0B3C49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2542032"/>
            <a:ext cx="2468880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6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UPF / SMF</a:t>
            </a:r>
            <a:endParaRPr lang="en-US" sz="14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E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WLAN throughput (12p_c)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754880" y="2468880"/>
            <a:ext cx="265176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25400">
            <a:solidFill>
              <a:srgbClr val="1FA98C"/>
            </a:solidFill>
            <a:prstDash val="solid"/>
          </a:ln>
          <a:effectLst>
            <a:outerShdw sx="100000" sy="100000" kx="0" ky="0" algn="bl" rotWithShape="0" blurRad="88900" dist="38100" dir="5400000">
              <a:srgbClr val="0B3C49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0" y="2542032"/>
            <a:ext cx="2468880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6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NCOF + RL</a:t>
            </a:r>
            <a:endParaRPr lang="en-US" sz="14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E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state → 결정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869680" y="2468880"/>
            <a:ext cx="265176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25400">
            <a:solidFill>
              <a:srgbClr val="E0853A"/>
            </a:solidFill>
            <a:prstDash val="solid"/>
          </a:ln>
          <a:effectLst>
            <a:outerShdw sx="100000" sy="100000" kx="0" ky="0" algn="bl" rotWithShape="0" blurRad="88900" dist="38100" dir="5400000">
              <a:srgbClr val="0B3C49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961120" y="2542032"/>
            <a:ext cx="2468880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6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RICF</a:t>
            </a:r>
            <a:endParaRPr lang="en-US" sz="14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E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15f cell power 적용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291840" y="3063240"/>
            <a:ext cx="1463040" cy="0"/>
          </a:xfrm>
          <a:prstGeom prst="line">
            <a:avLst/>
          </a:prstGeom>
          <a:noFill/>
          <a:ln w="31750">
            <a:solidFill>
              <a:srgbClr val="117A8B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7406640" y="3063240"/>
            <a:ext cx="1463040" cy="0"/>
          </a:xfrm>
          <a:prstGeom prst="line">
            <a:avLst/>
          </a:prstGeom>
          <a:noFill/>
          <a:ln w="31750">
            <a:solidFill>
              <a:srgbClr val="117A8B"/>
            </a:solidFill>
            <a:prstDash val="solid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3200400" y="230428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E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state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60920" y="230428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08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 / ACTIVE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943600" y="4160520"/>
            <a:ext cx="2286000" cy="0"/>
          </a:xfrm>
          <a:prstGeom prst="line">
            <a:avLst/>
          </a:prstGeom>
          <a:noFill/>
          <a:ln w="31750">
            <a:solidFill>
              <a:srgbClr val="CBE0E0"/>
            </a:solidFill>
            <a:prstDash val="dash"/>
            <a:headEnd type="triangle"/>
          </a:ln>
        </p:spPr>
      </p:sp>
      <p:sp>
        <p:nvSpPr>
          <p:cNvPr id="15" name="Text 13"/>
          <p:cNvSpPr/>
          <p:nvPr/>
        </p:nvSpPr>
        <p:spPr>
          <a:xfrm>
            <a:off x="3200400" y="42976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E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13p_d 전력 피드백 — 수신만, 의사결정에 미사용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40080" y="4937760"/>
            <a:ext cx="10881360" cy="1097280"/>
          </a:xfrm>
          <a:prstGeom prst="roundRect">
            <a:avLst>
              <a:gd name="adj" fmla="val 7500"/>
            </a:avLst>
          </a:prstGeom>
          <a:solidFill>
            <a:srgbClr val="EFF6F6"/>
          </a:solidFill>
          <a:ln w="12700">
            <a:solidFill>
              <a:srgbClr val="CBE0E0"/>
            </a:solidFill>
            <a:prstDash val="solid"/>
          </a:ln>
          <a:effectLst>
            <a:outerShdw sx="100000" sy="100000" kx="0" ky="0" algn="bl" rotWithShape="0" blurRad="88900" dist="38100" dir="5400000">
              <a:srgbClr val="0B3C49">
                <a:alpha val="1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14400" y="5120640"/>
            <a:ext cx="10332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8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한계  </a:t>
            </a:r>
            <a:pPr indent="0" marL="0">
              <a:buNone/>
            </a:pPr>
            <a:r>
              <a:rPr lang="en-US" sz="1400" dirty="0">
                <a:solidFill>
                  <a:srgbClr val="16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에너지(전력·전이)는 RL 입력·보상 어디에도 반영되지 않음 → 에너지 절감량을 정량화하거나 학습 목표로 삼을 수 없음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17A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TO-BE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36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변경 후 — 에너지 되먹임 폐루프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331720"/>
            <a:ext cx="310896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25400">
            <a:solidFill>
              <a:srgbClr val="117A8B"/>
            </a:solidFill>
            <a:prstDash val="solid"/>
          </a:ln>
          <a:effectLst>
            <a:outerShdw sx="100000" sy="100000" kx="0" ky="0" algn="bl" rotWithShape="0" blurRad="88900" dist="38100" dir="5400000">
              <a:srgbClr val="0B3C49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2404872"/>
            <a:ext cx="292608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6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UPF / SMF</a:t>
            </a:r>
            <a:endParaRPr lang="en-US" sz="14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E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WLAN throughput (12p_c)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3611880"/>
            <a:ext cx="310896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25400">
            <a:solidFill>
              <a:srgbClr val="E0853A"/>
            </a:solidFill>
            <a:prstDash val="solid"/>
          </a:ln>
          <a:effectLst>
            <a:outerShdw sx="100000" sy="100000" kx="0" ky="0" algn="bl" rotWithShape="0" blurRad="88900" dist="38100" dir="5400000">
              <a:srgbClr val="0B3C49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31520" y="3685032"/>
            <a:ext cx="292608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6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RICF 13p_d</a:t>
            </a:r>
            <a:endParaRPr lang="en-US" sz="14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E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gNB#2 전력상태 (1 / 280)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754880" y="2651760"/>
            <a:ext cx="27432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25400">
            <a:solidFill>
              <a:srgbClr val="1FA98C"/>
            </a:solidFill>
            <a:prstDash val="solid"/>
          </a:ln>
          <a:effectLst>
            <a:outerShdw sx="100000" sy="100000" kx="0" ky="0" algn="bl" rotWithShape="0" blurRad="88900" dist="38100" dir="5400000">
              <a:srgbClr val="0B3C49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46320" y="2724912"/>
            <a:ext cx="2560320" cy="1225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6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NCOF + RL</a:t>
            </a:r>
            <a:endParaRPr lang="en-US" sz="14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E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관측 → 결정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778240" y="2651760"/>
            <a:ext cx="27432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25400">
            <a:solidFill>
              <a:srgbClr val="E0853A"/>
            </a:solidFill>
            <a:prstDash val="solid"/>
          </a:ln>
          <a:effectLst>
            <a:outerShdw sx="100000" sy="100000" kx="0" ky="0" algn="bl" rotWithShape="0" blurRad="88900" dist="38100" dir="5400000">
              <a:srgbClr val="0B3C49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869680" y="2724912"/>
            <a:ext cx="2560320" cy="1225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6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RICF</a:t>
            </a:r>
            <a:endParaRPr lang="en-US" sz="14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E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15f cell power 적용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749040" y="2743200"/>
            <a:ext cx="1005840" cy="0"/>
          </a:xfrm>
          <a:prstGeom prst="line">
            <a:avLst/>
          </a:prstGeom>
          <a:noFill/>
          <a:ln w="31750">
            <a:solidFill>
              <a:srgbClr val="117A8B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3749040" y="3886200"/>
            <a:ext cx="1005840" cy="0"/>
          </a:xfrm>
          <a:prstGeom prst="line">
            <a:avLst/>
          </a:prstGeom>
          <a:noFill/>
          <a:ln w="31750">
            <a:solidFill>
              <a:srgbClr val="117A8B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498080" y="3337560"/>
            <a:ext cx="1280160" cy="0"/>
          </a:xfrm>
          <a:prstGeom prst="line">
            <a:avLst/>
          </a:prstGeom>
          <a:noFill/>
          <a:ln w="31750">
            <a:solidFill>
              <a:srgbClr val="117A8B"/>
            </a:solidFill>
            <a:prstDash val="solid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7498080" y="303580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A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10149840" y="4023360"/>
            <a:ext cx="0" cy="1188720"/>
          </a:xfrm>
          <a:prstGeom prst="line">
            <a:avLst/>
          </a:prstGeom>
          <a:noFill/>
          <a:ln w="31750">
            <a:solidFill>
              <a:srgbClr val="117A8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194560" y="5212080"/>
            <a:ext cx="7955280" cy="0"/>
          </a:xfrm>
          <a:prstGeom prst="line">
            <a:avLst/>
          </a:prstGeom>
          <a:noFill/>
          <a:ln w="31750">
            <a:solidFill>
              <a:srgbClr val="117A8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194560" y="4480560"/>
            <a:ext cx="0" cy="731520"/>
          </a:xfrm>
          <a:prstGeom prst="line">
            <a:avLst/>
          </a:prstGeom>
          <a:noFill/>
          <a:ln w="31750">
            <a:solidFill>
              <a:srgbClr val="117A8B"/>
            </a:solidFill>
            <a:prstDash val="solid"/>
            <a:headEnd type="triangle"/>
          </a:ln>
        </p:spPr>
      </p:sp>
      <p:sp>
        <p:nvSpPr>
          <p:cNvPr id="19" name="Text 17"/>
          <p:cNvSpPr/>
          <p:nvPr/>
        </p:nvSpPr>
        <p:spPr>
          <a:xfrm>
            <a:off x="2560320" y="52852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17A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상태 적용 결과를 전력상태로 되먹임  (Stage 2: 50 ms 전이지연 반영)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" y="5897880"/>
            <a:ext cx="10927080" cy="777240"/>
          </a:xfrm>
          <a:prstGeom prst="roundRect">
            <a:avLst>
              <a:gd name="adj" fmla="val 10588"/>
            </a:avLst>
          </a:prstGeom>
          <a:solidFill>
            <a:srgbClr val="EAF7F2"/>
          </a:solidFill>
          <a:ln w="12700">
            <a:solidFill>
              <a:srgbClr val="CBE0E0"/>
            </a:solidFill>
            <a:prstDash val="solid"/>
          </a:ln>
          <a:effectLst>
            <a:outerShdw sx="100000" sy="100000" kx="0" ky="0" algn="bl" rotWithShape="0" blurRad="88900" dist="38100" dir="5400000">
              <a:srgbClr val="0B3C49">
                <a:alpha val="16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14400" y="5989320"/>
            <a:ext cx="10424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A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변경   </a:t>
            </a:r>
            <a:pPr indent="0" marL="0">
              <a:buNone/>
            </a:pPr>
            <a:r>
              <a:rPr lang="en-US" sz="1300" dirty="0">
                <a:solidFill>
                  <a:srgbClr val="16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이전 gNB#2 상태(active→280 / deep_sleep→1)를 관측에 추가하고, 보상에서 음수(−)로 처리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17A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 FORMULATION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36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강화학습 정식화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20440" cy="24688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E0E0"/>
            </a:solidFill>
            <a:prstDash val="solid"/>
          </a:ln>
          <a:effectLst>
            <a:outerShdw sx="100000" sy="100000" kx="0" ky="0" algn="bl" rotWithShape="0" blurRad="88900" dist="38100" dir="5400000">
              <a:srgbClr val="0B3C49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874520"/>
            <a:ext cx="384048" cy="384048"/>
          </a:xfrm>
          <a:prstGeom prst="ellipse">
            <a:avLst/>
          </a:prstGeom>
          <a:solidFill>
            <a:srgbClr val="117A8B"/>
          </a:solidFill>
          <a:ln/>
        </p:spPr>
      </p:sp>
      <p:sp>
        <p:nvSpPr>
          <p:cNvPr id="6" name="Text 4"/>
          <p:cNvSpPr/>
          <p:nvPr/>
        </p:nvSpPr>
        <p:spPr>
          <a:xfrm>
            <a:off x="1325880" y="18745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36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관측 (Observation)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804672" y="2423160"/>
            <a:ext cx="310896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6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WLAN DL throughput (정규화)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6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이전 gNB#2 전력상태 = 1(sleep) 또는 280(active), 정규화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43400" y="1691640"/>
            <a:ext cx="3520440" cy="24688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E0E0"/>
            </a:solidFill>
            <a:prstDash val="solid"/>
          </a:ln>
          <a:effectLst>
            <a:outerShdw sx="100000" sy="100000" kx="0" ky="0" algn="bl" rotWithShape="0" blurRad="88900" dist="38100" dir="5400000">
              <a:srgbClr val="0B3C49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0" y="1874520"/>
            <a:ext cx="384048" cy="384048"/>
          </a:xfrm>
          <a:prstGeom prst="ellipse">
            <a:avLst/>
          </a:prstGeom>
          <a:solidFill>
            <a:srgbClr val="1FA98C"/>
          </a:solidFill>
          <a:ln/>
        </p:spPr>
      </p:sp>
      <p:sp>
        <p:nvSpPr>
          <p:cNvPr id="10" name="Text 8"/>
          <p:cNvSpPr/>
          <p:nvPr/>
        </p:nvSpPr>
        <p:spPr>
          <a:xfrm>
            <a:off x="5120640" y="18745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36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행동 (Action)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4599432" y="2423160"/>
            <a:ext cx="310896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6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DEEP_SLEEP  (절전)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6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 (가동)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138160" y="1691640"/>
            <a:ext cx="3520440" cy="24688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E0E0"/>
            </a:solidFill>
            <a:prstDash val="solid"/>
          </a:ln>
          <a:effectLst>
            <a:outerShdw sx="100000" sy="100000" kx="0" ky="0" algn="bl" rotWithShape="0" blurRad="88900" dist="38100" dir="5400000">
              <a:srgbClr val="0B3C49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366760" y="1874520"/>
            <a:ext cx="384048" cy="384048"/>
          </a:xfrm>
          <a:prstGeom prst="ellipse">
            <a:avLst/>
          </a:prstGeom>
          <a:solidFill>
            <a:srgbClr val="E0853A"/>
          </a:solidFill>
          <a:ln/>
        </p:spPr>
      </p:sp>
      <p:sp>
        <p:nvSpPr>
          <p:cNvPr id="14" name="Text 12"/>
          <p:cNvSpPr/>
          <p:nvPr/>
        </p:nvSpPr>
        <p:spPr>
          <a:xfrm>
            <a:off x="8915400" y="18745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36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보상 (Reward)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8394192" y="2423160"/>
            <a:ext cx="310896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6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에너지: 해당 스텝 P(state)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6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QoS 위반(수면 중 WLAN 과부하)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6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전이 비용 (Stage 2)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526280"/>
            <a:ext cx="11109960" cy="1508760"/>
          </a:xfrm>
          <a:prstGeom prst="roundRect">
            <a:avLst>
              <a:gd name="adj" fmla="val 5455"/>
            </a:avLst>
          </a:prstGeom>
          <a:solidFill>
            <a:srgbClr val="0B3C49"/>
          </a:solidFill>
          <a:ln w="12700">
            <a:solidFill>
              <a:srgbClr val="CBE0E0"/>
            </a:solidFill>
            <a:prstDash val="solid"/>
          </a:ln>
          <a:effectLst>
            <a:outerShdw sx="100000" sy="100000" kx="0" ky="0" algn="bl" rotWithShape="0" blurRad="88900" dist="38100" dir="5400000">
              <a:srgbClr val="0B3C49">
                <a:alpha val="1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68680" y="46634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A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보상 공식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68680" y="502920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 =  − w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P(state)/280   − w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QoS_violation   − w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transition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68680" y="5650992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BD7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P(ACTIVE)=280, P(DEEP_SLEEP)=1 → 가동은 비싸고 절전은 저렴(절전 유도). QoS 위반항이 무분별한 sleep을 억제.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17A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 SCALING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36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RL 보상 정규화 (normalization)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94960" cy="1874520"/>
          </a:xfrm>
          <a:prstGeom prst="roundRect">
            <a:avLst>
              <a:gd name="adj" fmla="val 4390"/>
            </a:avLst>
          </a:prstGeom>
          <a:solidFill>
            <a:srgbClr val="EFF6F6"/>
          </a:solidFill>
          <a:ln w="12700">
            <a:solidFill>
              <a:srgbClr val="CBE0E0"/>
            </a:solidFill>
            <a:prstDash val="solid"/>
          </a:ln>
          <a:effectLst>
            <a:outerShdw sx="100000" sy="100000" kx="0" ky="0" algn="bl" rotWithShape="0" blurRad="88900" dist="38100" dir="5400000">
              <a:srgbClr val="0B3C49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41248" y="184708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7A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왜 정규화?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2286000"/>
            <a:ext cx="48006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6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에너지(16,800 등)는 보상 스케일이 너무 커 학습(gradient·value)이 불안정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6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 항을 비슷한 크기로 맞춰야 가중치 w 가 “상대 중요도”로 해석됨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17920" y="1691640"/>
            <a:ext cx="544068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CBE0E0"/>
            </a:solidFill>
            <a:prstDash val="solid"/>
          </a:ln>
          <a:effectLst>
            <a:outerShdw sx="100000" sy="100000" kx="0" ky="0" algn="bl" rotWithShape="0" blurRad="88900" dist="38100" dir="5400000">
              <a:srgbClr val="0B3C49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10528" y="184708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085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어떻게?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537960" y="2286000"/>
            <a:ext cx="49377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6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P(state) ÷ 280 → 0~1   (active 1.0 / deep 0.0036)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6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×60(스텝 길이)은 상수 → 제거해도 정책 불변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6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QoS·전이 항은 이미 0/1</a:t>
            </a:r>
            <a:endParaRPr lang="en-US" sz="12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886200"/>
          <a:ext cx="54864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828800"/>
                <a:gridCol w="164592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상태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raw (P×60, rel·s)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정규화 (P/280)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636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636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16,800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E08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636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DEEP_SLEEP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636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A9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0.0036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6217920" y="3886200"/>
            <a:ext cx="5440680" cy="2286000"/>
          </a:xfrm>
          <a:prstGeom prst="roundRect">
            <a:avLst>
              <a:gd name="adj" fmla="val 3600"/>
            </a:avLst>
          </a:prstGeom>
          <a:solidFill>
            <a:srgbClr val="0B3C49"/>
          </a:solidFill>
          <a:ln w="12700">
            <a:solidFill>
              <a:srgbClr val="CBE0E0"/>
            </a:solidFill>
            <a:prstDash val="solid"/>
          </a:ln>
          <a:effectLst>
            <a:outerShdw sx="100000" sy="100000" kx="0" ky="0" algn="bl" rotWithShape="0" blurRad="88900" dist="38100" dir="5400000">
              <a:srgbClr val="0B3C49">
                <a:alpha val="16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510528" y="402336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A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정규화 후 보상 함수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510528" y="4370832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− w_e · P/280 − w_q · QoS − w_s · transition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6510528" y="4892040"/>
            <a:ext cx="5029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FE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권장 시작값:  w_e = 1,  w_q ≈ 10,  w_s ≈ 0.1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i="1" dirty="0">
                <a:solidFill>
                  <a:srgbClr val="9BD7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전이항은 정규화 시 ≈0.00006 로 미미 → flap 제어는 min-dwell guard 또는 별도 w_s 로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17A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OF MODELING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36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Stage 1  vs  Stage 2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41148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CBE0E0"/>
            </a:solidFill>
            <a:prstDash val="solid"/>
          </a:ln>
          <a:effectLst>
            <a:outerShdw sx="100000" sy="100000" kx="0" ky="0" algn="bl" rotWithShape="0" blurRad="88900" dist="38100" dir="5400000">
              <a:srgbClr val="0B3C49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20240"/>
            <a:ext cx="1210666" cy="310896"/>
          </a:xfrm>
          <a:prstGeom prst="roundRect">
            <a:avLst>
              <a:gd name="adj" fmla="val 50000"/>
            </a:avLst>
          </a:prstGeom>
          <a:solidFill>
            <a:srgbClr val="1FA98C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20240"/>
            <a:ext cx="121066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· 지금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22960" y="239572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36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상대전력만 반영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41248" y="2971800"/>
            <a:ext cx="4846320" cy="2697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16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각 스텝의 상대전력을 보상에 반영: ACTIVE = 280, DEEP_SLEEP = 1 (정규화 후 음수)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16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이전 전력상태를 관측 피처로 추가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16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전이는 아직 모델링하지 않음 (즉시 전환 가정)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16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새 관측·보상으로 RL 재학습 → 정책 JSON 재export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309360" y="1691640"/>
            <a:ext cx="5349240" cy="41148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CBE0E0"/>
            </a:solidFill>
            <a:prstDash val="solid"/>
          </a:ln>
          <a:effectLst>
            <a:outerShdw sx="100000" sy="100000" kx="0" ky="0" algn="bl" rotWithShape="0" blurRad="88900" dist="38100" dir="5400000">
              <a:srgbClr val="0B3C49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83680" y="1920240"/>
            <a:ext cx="1210666" cy="310896"/>
          </a:xfrm>
          <a:prstGeom prst="roundRect">
            <a:avLst>
              <a:gd name="adj" fmla="val 50000"/>
            </a:avLst>
          </a:prstGeom>
          <a:solidFill>
            <a:srgbClr val="E0853A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0" y="1920240"/>
            <a:ext cx="121066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 · 다음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583680" y="239572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36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전이시간 · 전이에너지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601968" y="2971800"/>
            <a:ext cx="4846320" cy="2697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16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sleep 전이시간 T = 50 ms 반영 (전이 중 셀 불가용 / deep-sleep 전력 소비)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16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전이에너지 E = 1000 을 상태 변경 시 1회 페널티로 부과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16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min-dwell guard와 연동 — 잦은 토글 억제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16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 RICF가 명령 후 50 ms 지연을 두고 13p_d로 상태 반영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17A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36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코드 변경 지점</a:t>
            </a:r>
            <a:endParaRPr lang="en-US" sz="3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10996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3703320"/>
                <a:gridCol w="502920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컴포넌트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파일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변경 내용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36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RL 환경 (보상)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36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gym_for_ncof/.../env.py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36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에너지 보상항을 38.864 P(1 / 280)로 교체. Stage 2: 전이에너지 E·시간 추가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36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결정 엔진 (관측)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36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nncof-server/.../core/gnb2_rl_engine.py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36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_build_obs 에 이전 전력상태(1 / 280) 관측 피처 추가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36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mock RICF (피드백)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36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nnef-server/.../impl/simulation.py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36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13p_d _power/_powerState 를 38.864 정렬(0mW→1, random→280). Stage 2: 50 ms 전이지연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36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mock core (상태)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36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nsmf-server/.../impl/simulation.py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36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변경 없음 — WLAN throughput 그대로 network state 로 사용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36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학습 / export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36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gym_for_ncof/scripts/train.py, policy_export.py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36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새 관측 차원 반영해 재학습 후 정책 JSON 재생성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36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샘플 데이터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36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ncof_json/13p_d_...json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36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전력값을 38.864 상대전력으로 정렬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3C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진행 로드맵 &amp; 다음 액션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22960" y="1737360"/>
            <a:ext cx="5212080" cy="1828800"/>
          </a:xfrm>
          <a:prstGeom prst="roundRect">
            <a:avLst>
              <a:gd name="adj" fmla="val 5000"/>
            </a:avLst>
          </a:prstGeom>
          <a:solidFill>
            <a:srgbClr val="12515E"/>
          </a:solidFill>
          <a:ln w="25400">
            <a:solidFill>
              <a:srgbClr val="1FA98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0" y="1938528"/>
            <a:ext cx="790042" cy="310896"/>
          </a:xfrm>
          <a:prstGeom prst="roundRect">
            <a:avLst>
              <a:gd name="adj" fmla="val 50000"/>
            </a:avLst>
          </a:prstGeom>
          <a:solidFill>
            <a:srgbClr val="1FA98C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1938528"/>
            <a:ext cx="79004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097280" y="2395728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상대전력 보상 + 관측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115568" y="2816352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FE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ACTIVE=280 / DEEP_SLEEP=1 보상 반영, 이전 상태 관측 추가, 재학습·검증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126480" y="2651760"/>
            <a:ext cx="822960" cy="0"/>
          </a:xfrm>
          <a:prstGeom prst="line">
            <a:avLst/>
          </a:prstGeom>
          <a:noFill/>
          <a:ln w="31750">
            <a:solidFill>
              <a:srgbClr val="1FA98C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6949440" y="1737360"/>
            <a:ext cx="5212080" cy="1828800"/>
          </a:xfrm>
          <a:prstGeom prst="roundRect">
            <a:avLst>
              <a:gd name="adj" fmla="val 5000"/>
            </a:avLst>
          </a:prstGeom>
          <a:solidFill>
            <a:srgbClr val="12515E"/>
          </a:solidFill>
          <a:ln w="25400">
            <a:solidFill>
              <a:srgbClr val="E0853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223760" y="1938528"/>
            <a:ext cx="790042" cy="310896"/>
          </a:xfrm>
          <a:prstGeom prst="roundRect">
            <a:avLst>
              <a:gd name="adj" fmla="val 50000"/>
            </a:avLst>
          </a:prstGeom>
          <a:solidFill>
            <a:srgbClr val="E0853A"/>
          </a:solidFill>
          <a:ln/>
        </p:spPr>
      </p:sp>
      <p:sp>
        <p:nvSpPr>
          <p:cNvPr id="11" name="Text 9"/>
          <p:cNvSpPr/>
          <p:nvPr/>
        </p:nvSpPr>
        <p:spPr>
          <a:xfrm>
            <a:off x="7223760" y="1938528"/>
            <a:ext cx="79004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223760" y="2395728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전이시간 + 전이에너지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242048" y="2816352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FE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sleep 50 ms 전이, 전이에너지 E=1000, RICF 13p_d 폐루프 연결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22960" y="3886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A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다음 액션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68680" y="4297680"/>
            <a:ext cx="1060704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E6F2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gym env 보상함수를 38.864 상대전력(1 / 280)으로 수정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E6F2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 RICF 13p_d 전력값을 38.864 기준으로 정렬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E6F2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관측 차원 추가 → PPO 재학습 → 정책 JSON 재export → 룰 대비 검증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6F2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2: 전이시간·전이에너지 도입 및 RICF 전력 피드백 폐루프 연결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NCOF gNB#2 Energy Model Plan</dc:title>
  <dc:subject>PptxGenJS Presentation</dc:subject>
  <dc:creator>ETRI 6G-I2P</dc:creator>
  <cp:lastModifiedBy>ETRI 6G-I2P</cp:lastModifiedBy>
  <cp:revision>1</cp:revision>
  <dcterms:created xsi:type="dcterms:W3CDTF">2026-06-26T08:11:49Z</dcterms:created>
  <dcterms:modified xsi:type="dcterms:W3CDTF">2026-06-26T08:11:49Z</dcterms:modified>
</cp:coreProperties>
</file>